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2C5F44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11201400" y="128016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214884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11201400" y="301752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388620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475488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777240"/>
            <a:ext cx="868680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777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FX</a:t>
            </a:r>
            <a:endParaRPr lang="en-US" sz="2470" dirty="0"/>
          </a:p>
        </p:txBody>
      </p:sp>
      <p:sp>
        <p:nvSpPr>
          <p:cNvPr id="11" name="Text 9"/>
          <p:cNvSpPr/>
          <p:nvPr/>
        </p:nvSpPr>
        <p:spPr>
          <a:xfrm>
            <a:off x="1920240" y="71323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FORJEX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8961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Construimos empresas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fuertes.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292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Consejería Empresarial</a:t>
            </a:r>
            <a:pPr indent="0" marL="0">
              <a:buNone/>
            </a:pPr>
            <a:r>
              <a:rPr lang="en-US" sz="1600" spc="100" kern="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6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Directivo</a:t>
            </a:r>
            <a:pPr indent="0" marL="0">
              <a:buNone/>
            </a:pPr>
            <a:r>
              <a:rPr lang="en-US" sz="1600" spc="100" kern="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6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DIMAS®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Muchas empresas dejan de crecer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las mismas razones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porque les falten oportunidades. No porque el mercado haya desaparecido. No porque el producto sea malo.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porque la empresa ha crecido más rápido que su capacidad de dirección.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4892040" cy="3063240"/>
          </a:xfrm>
          <a:prstGeom prst="rect">
            <a:avLst/>
          </a:prstGeom>
          <a:solidFill>
            <a:srgbClr val="1C3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3200400"/>
            <a:ext cx="91440" cy="306324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52044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29768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la dirección no</a:t>
            </a:r>
            <a:endParaRPr lang="en-US" sz="1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al ritmo del negocio,</a:t>
            </a:r>
            <a:endParaRPr lang="en-US" sz="1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crecimiento se detiene.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989320" y="3246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frecuentes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7856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7216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fundador sigue tomando la mayoría de las decisiones.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29310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42291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no crece al ritmo de las ventas.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80060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47365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gerentes administran, pero no lideran.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5308092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00800" y="52440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oportunidades que la organización no logra aprovechar.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5815584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00800" y="57515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depende demasiado de unas cuantas personas.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no siempre es el que parece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frecuencia, lo que la empresa cree necesitar no es lo que realmente la hará crecer.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5257800" cy="777240"/>
          </a:xfrm>
          <a:prstGeom prst="rect">
            <a:avLst/>
          </a:prstGeom>
          <a:solidFill>
            <a:srgbClr val="5C6B6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Creen que necesitan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–"/>
            </a:pPr>
            <a:r>
              <a:rPr lang="en-US" sz="16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vendedores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71246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–"/>
            </a:pPr>
            <a:r>
              <a:rPr lang="en-US" sz="16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infraestructura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3159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–"/>
            </a:pPr>
            <a:r>
              <a:rPr lang="en-US" sz="16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inventario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9194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–"/>
            </a:pPr>
            <a:r>
              <a:rPr lang="en-US" sz="16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personal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55229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–"/>
            </a:pPr>
            <a:r>
              <a:rPr lang="en-US" sz="16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inversión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3881628"/>
            <a:ext cx="777240" cy="502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949440" y="2057400"/>
            <a:ext cx="4617720" cy="4160520"/>
          </a:xfrm>
          <a:prstGeom prst="rect">
            <a:avLst/>
          </a:prstGeom>
          <a:solidFill>
            <a:srgbClr val="1C3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49440" y="2057400"/>
            <a:ext cx="4617720" cy="777240"/>
          </a:xfrm>
          <a:prstGeom prst="rect">
            <a:avLst/>
          </a:prstGeom>
          <a:solidFill>
            <a:srgbClr val="2C5F44"/>
          </a:solidFill>
          <a:ln/>
        </p:spPr>
      </p:sp>
      <p:sp>
        <p:nvSpPr>
          <p:cNvPr id="15" name="Shape 12"/>
          <p:cNvSpPr/>
          <p:nvPr/>
        </p:nvSpPr>
        <p:spPr>
          <a:xfrm>
            <a:off x="6949440" y="2057400"/>
            <a:ext cx="91440" cy="4160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2057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realidad necesitan</a:t>
            </a:r>
            <a:endParaRPr lang="en-US" sz="1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18211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62672" y="31181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información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78561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62672" y="37216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dirección</a:t>
            </a:r>
            <a:endParaRPr lang="en-US" sz="16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389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62672" y="43251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estructura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499262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62672" y="49286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indicadores</a:t>
            </a:r>
            <a:endParaRPr lang="en-US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559612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62672" y="5532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decisiones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hacemos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Fortalecemos la dirección de las empresas para mejorar resultados, desarrollar líderes y construir organizaciones capaces de crecer sin depender exclusivamente del fundador.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7004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2670048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472184" y="3246120"/>
            <a:ext cx="1005840" cy="1005840"/>
          </a:xfrm>
          <a:prstGeom prst="ellipse">
            <a:avLst/>
          </a:prstGeom>
          <a:solidFill>
            <a:srgbClr val="1C3A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34747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434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Claridad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498348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la realidad del negocio.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84448" y="2286000"/>
            <a:ext cx="267004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84448" y="2286000"/>
            <a:ext cx="2670048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3858768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416552" y="3246120"/>
            <a:ext cx="1005840" cy="1005840"/>
          </a:xfrm>
          <a:prstGeom prst="ellipse">
            <a:avLst/>
          </a:prstGeom>
          <a:solidFill>
            <a:srgbClr val="1C3A2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34747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67328" y="4434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Dirección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3813048" y="498348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la toma de decisiones.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528816" y="2286000"/>
            <a:ext cx="267004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28816" y="2286000"/>
            <a:ext cx="2670048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6"/>
          <p:cNvSpPr/>
          <p:nvPr/>
        </p:nvSpPr>
        <p:spPr>
          <a:xfrm>
            <a:off x="6803136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7360920" y="3246120"/>
            <a:ext cx="1005840" cy="1005840"/>
          </a:xfrm>
          <a:prstGeom prst="ellipse">
            <a:avLst/>
          </a:prstGeom>
          <a:solidFill>
            <a:srgbClr val="1C3A2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4747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11696" y="4434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6757416" y="498348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líderes y equipos.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9473184" y="2286000"/>
            <a:ext cx="267004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473184" y="2286000"/>
            <a:ext cx="2670048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2"/>
          <p:cNvSpPr/>
          <p:nvPr/>
        </p:nvSpPr>
        <p:spPr>
          <a:xfrm>
            <a:off x="9747504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Shape 23"/>
          <p:cNvSpPr/>
          <p:nvPr/>
        </p:nvSpPr>
        <p:spPr>
          <a:xfrm>
            <a:off x="10305288" y="3246120"/>
            <a:ext cx="1005840" cy="1005840"/>
          </a:xfrm>
          <a:prstGeom prst="ellipse">
            <a:avLst/>
          </a:prstGeom>
          <a:solidFill>
            <a:srgbClr val="1C3A2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8" y="347472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56064" y="4434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Trascendencia</a:t>
            </a:r>
            <a:endParaRPr lang="en-US" sz="2100" dirty="0"/>
          </a:p>
        </p:txBody>
      </p:sp>
      <p:sp>
        <p:nvSpPr>
          <p:cNvPr id="31" name="Text 25"/>
          <p:cNvSpPr/>
          <p:nvPr/>
        </p:nvSpPr>
        <p:spPr>
          <a:xfrm>
            <a:off x="9701784" y="498348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la empresa para su siguiente etapa.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Nuestro enfoque es diferente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consultorías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6B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Entregan recomendaciones.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349240" cy="1371600"/>
          </a:xfrm>
          <a:prstGeom prst="rect">
            <a:avLst/>
          </a:prstGeom>
          <a:solidFill>
            <a:srgbClr val="1C3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141732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9385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Acompañamos la ejecución.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involucramos en: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3566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767328"/>
            <a:ext cx="530352" cy="530352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895344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361188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352544" y="3611880"/>
            <a:ext cx="3566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3712" y="3767328"/>
            <a:ext cx="530352" cy="530352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389534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21224" y="361188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8065008" y="3611880"/>
            <a:ext cx="3566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66176" y="3767328"/>
            <a:ext cx="530352" cy="530352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389534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33688" y="361188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organizacional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640080" y="4617720"/>
            <a:ext cx="3566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1248" y="4773168"/>
            <a:ext cx="530352" cy="530352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90118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461772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líderes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4352544" y="4617720"/>
            <a:ext cx="3566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53712" y="4773168"/>
            <a:ext cx="530352" cy="530352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901184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21224" y="461772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dirección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8065008" y="4617720"/>
            <a:ext cx="3566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66176" y="4773168"/>
            <a:ext cx="530352" cy="530352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90118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33688" y="461772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resultados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buscamos que la empresa se adapte a un modelo: adaptamos las soluciones a la realidad de cada organización.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</a:t>
            </a:r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DIMAS</a:t>
            </a:r>
            <a:pPr indent="0" marL="0">
              <a:buNone/>
            </a:pPr>
            <a:r>
              <a:rPr lang="en-US" sz="1800" b="1" baseline="30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cinco etapas que convierte el diagnóstico en resultados sostenibles.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999232"/>
            <a:ext cx="8997696" cy="45720"/>
          </a:xfrm>
          <a:prstGeom prst="rect">
            <a:avLst/>
          </a:prstGeom>
          <a:solidFill>
            <a:srgbClr val="2C5F44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" y="2468880"/>
            <a:ext cx="1005840" cy="10058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179576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2084832" cy="2240280"/>
          </a:xfrm>
          <a:prstGeom prst="rect">
            <a:avLst/>
          </a:prstGeom>
          <a:solidFill>
            <a:srgbClr val="2C5F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886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443484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Analizamos integralmente la empresa.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2468880"/>
            <a:ext cx="1005840" cy="10058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2889504" y="3703320"/>
            <a:ext cx="2084832" cy="2240280"/>
          </a:xfrm>
          <a:prstGeom prst="rect">
            <a:avLst/>
          </a:prstGeom>
          <a:solidFill>
            <a:srgbClr val="2C5F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62656" y="3886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54096" y="443484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Aterrizamos prioridades y planes de acción.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78424" y="2468880"/>
            <a:ext cx="1005840" cy="10058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5678424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5138928" y="3703320"/>
            <a:ext cx="2084832" cy="2240280"/>
          </a:xfrm>
          <a:prstGeom prst="rect">
            <a:avLst/>
          </a:prstGeom>
          <a:solidFill>
            <a:srgbClr val="2C5F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3886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Medición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303520" y="443484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indicadores y mecanismos de seguimiento.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27848" y="2468880"/>
            <a:ext cx="1005840" cy="10058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927848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7388352" y="3703320"/>
            <a:ext cx="2084832" cy="2240280"/>
          </a:xfrm>
          <a:prstGeom prst="rect">
            <a:avLst/>
          </a:prstGeom>
          <a:solidFill>
            <a:srgbClr val="2C5F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61504" y="3886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52944" y="443484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Corregimos y fortalecemos la ejecución.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177272" y="2468880"/>
            <a:ext cx="1005840" cy="10058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10177272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4000" dirty="0"/>
          </a:p>
        </p:txBody>
      </p:sp>
      <p:sp>
        <p:nvSpPr>
          <p:cNvPr id="27" name="Shape 25"/>
          <p:cNvSpPr/>
          <p:nvPr/>
        </p:nvSpPr>
        <p:spPr>
          <a:xfrm>
            <a:off x="9637776" y="3703320"/>
            <a:ext cx="2084832" cy="2240280"/>
          </a:xfrm>
          <a:prstGeom prst="rect">
            <a:avLst/>
          </a:prstGeom>
          <a:solidFill>
            <a:srgbClr val="2C5F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710928" y="3886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802368" y="443484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Aseguramos mejoras convertidas en resultados sostenibles.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Áreas donde generamos valor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109728" cy="2240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801368"/>
            <a:ext cx="868680" cy="86868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039112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83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Rentabilidad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30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30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efectivo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0" y="141732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1417320"/>
            <a:ext cx="109728" cy="2240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6766560" y="1801368"/>
            <a:ext cx="868680" cy="86868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039112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18120" y="1783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9037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comercial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94183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9037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4183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40080" y="393192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3931920"/>
            <a:ext cx="109728" cy="2240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19"/>
          <p:cNvSpPr/>
          <p:nvPr/>
        </p:nvSpPr>
        <p:spPr>
          <a:xfrm>
            <a:off x="1005840" y="4315968"/>
            <a:ext cx="868680" cy="86868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4553712"/>
            <a:ext cx="393192" cy="3931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057400" y="4297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Organización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114300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365760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43000" y="5715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3657600" y="5715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gestión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6400800" y="393192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400800" y="3931920"/>
            <a:ext cx="109728" cy="2240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7"/>
          <p:cNvSpPr/>
          <p:nvPr/>
        </p:nvSpPr>
        <p:spPr>
          <a:xfrm>
            <a:off x="6766560" y="4315968"/>
            <a:ext cx="868680" cy="86868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4553712"/>
            <a:ext cx="393192" cy="39319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818120" y="4297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Liderazgo</a:t>
            </a:r>
            <a:endParaRPr lang="en-US" sz="2200" dirty="0"/>
          </a:p>
        </p:txBody>
      </p:sp>
      <p:sp>
        <p:nvSpPr>
          <p:cNvPr id="35" name="Text 29"/>
          <p:cNvSpPr/>
          <p:nvPr/>
        </p:nvSpPr>
        <p:spPr>
          <a:xfrm>
            <a:off x="690372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Gerencias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941832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903720" y="5715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Sucesión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9418320" y="5715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directivo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típicos de transformación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94436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planeaba invertir en nueva infraestructura logística.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0873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analizar la operación, se rediseñaron rutas, métricas e incentivos.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4846320"/>
            <a:ext cx="4754880" cy="1005840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4846320"/>
            <a:ext cx="73152" cy="100584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5010912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49743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88720" y="5303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Siguió creciendo durante varios años sin realizar la inversión prevista.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0" y="1463040"/>
            <a:ext cx="54864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0" y="1463040"/>
            <a:ext cx="54864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768096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766560" y="2651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0" y="294436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atribuía la caída de flujo a una baja en ventas.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66560" y="3794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40873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reveló que el negocio crecía, pero había sobreinversión en activos y una lectura incompleta de la rentabilidad.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766560" y="4846320"/>
            <a:ext cx="4754880" cy="1005840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25" name="Shape 22"/>
          <p:cNvSpPr/>
          <p:nvPr/>
        </p:nvSpPr>
        <p:spPr>
          <a:xfrm>
            <a:off x="6766560" y="4846320"/>
            <a:ext cx="73152" cy="100584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5010912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60920" y="49743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949440" y="5303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corrigieron decisiones financieras y se recuperó visibilidad sobre la generación real de valor.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Empresas que evolucionan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allá del fundador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640080"/>
            <a:ext cx="4251960" cy="2606040"/>
          </a:xfrm>
          <a:prstGeom prst="rect">
            <a:avLst/>
          </a:prstGeom>
          <a:solidFill>
            <a:srgbClr val="1C3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0" y="640080"/>
            <a:ext cx="91440" cy="260604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914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600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objetivo no es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al empresario.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2331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fortalecer</a:t>
            </a:r>
            <a:endParaRPr lang="en-US" sz="2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 organización.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Hemos acompañado procesos donde: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10927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3758184"/>
            <a:ext cx="457200" cy="45720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86791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6576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operativos evolucionaron a gerentes generales.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4407408"/>
            <a:ext cx="10927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" y="4507992"/>
            <a:ext cx="457200" cy="45720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6177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40740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directivos desarrollados desde dentro de la organización.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40080" y="5157216"/>
            <a:ext cx="10927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1248" y="5257800"/>
            <a:ext cx="457200" cy="45720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36752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515721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Fundadores que redujeron su dependencia operativa.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5907024"/>
            <a:ext cx="10927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41248" y="6007608"/>
            <a:ext cx="457200" cy="45720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611733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590702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expandieron sucursales, territorios y capacidad de crecimiento.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FORJEX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acompañar a la empresa en su evolución.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3931920"/>
          </a:xfrm>
          <a:prstGeom prst="rect">
            <a:avLst/>
          </a:prstGeom>
          <a:solidFill>
            <a:srgbClr val="1C3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352044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1760220" y="2834640"/>
            <a:ext cx="1280160" cy="1280160"/>
          </a:xfrm>
          <a:prstGeom prst="ellipse">
            <a:avLst/>
          </a:prstGeom>
          <a:solidFill>
            <a:srgbClr val="2C5F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31089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343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Consejería Empresarial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50749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estratégico y operativo, integrado a la dirección de la empresa.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520440" cy="3931920"/>
          </a:xfrm>
          <a:prstGeom prst="rect">
            <a:avLst/>
          </a:prstGeom>
          <a:solidFill>
            <a:srgbClr val="1C3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194560"/>
            <a:ext cx="352044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5463540" y="2834640"/>
            <a:ext cx="1280160" cy="1280160"/>
          </a:xfrm>
          <a:prstGeom prst="ellipse">
            <a:avLst/>
          </a:prstGeom>
          <a:solidFill>
            <a:srgbClr val="2C5F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310896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343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Search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63440" y="50749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gerentes y directivos clave para el siguiente nivel de la organización.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46720" y="2194560"/>
            <a:ext cx="3520440" cy="3931920"/>
          </a:xfrm>
          <a:prstGeom prst="rect">
            <a:avLst/>
          </a:prstGeom>
          <a:solidFill>
            <a:srgbClr val="1C3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0" y="2194560"/>
            <a:ext cx="352044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Shape 14"/>
          <p:cNvSpPr/>
          <p:nvPr/>
        </p:nvSpPr>
        <p:spPr>
          <a:xfrm>
            <a:off x="9166860" y="2834640"/>
            <a:ext cx="1280160" cy="1280160"/>
          </a:xfrm>
          <a:prstGeom prst="ellipse">
            <a:avLst/>
          </a:prstGeom>
          <a:solidFill>
            <a:srgbClr val="2C5F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310896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4343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Directivo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366760" y="50749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y fortalecimiento de liderazgo en gerencias y dirección general.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quién es FORJEX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492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691640"/>
            <a:ext cx="534924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240280"/>
            <a:ext cx="1051560" cy="105156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50545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Empresas en evolución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ya superaron la etapa emprendedora y necesitan fortalecer su estructura para continuar creciendo.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691640"/>
            <a:ext cx="534924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240280"/>
            <a:ext cx="1051560" cy="1051560"/>
          </a:xfrm>
          <a:prstGeom prst="ellipse">
            <a:avLst/>
          </a:prstGeom>
          <a:solidFill>
            <a:srgbClr val="F4F2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2505456"/>
            <a:ext cx="521208" cy="5212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0" y="3474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Empresarios con visión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675120" y="39776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reconocen que el siguiente nivel requiere nuevas capacidades, nuevos líderes y una mejor forma de dirigir la organización.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5166360"/>
            <a:ext cx="10927080" cy="11430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5166360"/>
            <a:ext cx="91440" cy="1143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3"/>
          <p:cNvSpPr/>
          <p:nvPr/>
        </p:nvSpPr>
        <p:spPr>
          <a:xfrm>
            <a:off x="960120" y="51663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 ya no es empezar. </a:t>
            </a:r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construir una empresa que crezca con solidez.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73152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73152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109728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11384280" y="1097280"/>
            <a:ext cx="45720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40680" y="1234440"/>
            <a:ext cx="1280160" cy="1280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4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FX</a:t>
            </a:r>
            <a:endParaRPr lang="en-US" sz="364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10332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Construimos empresas</a:t>
            </a:r>
            <a:endParaRPr lang="en-US" sz="4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fuertes.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5774436" y="4526280"/>
            <a:ext cx="6400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100" kern="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FORJEX  ·  Consejería Empresarial para Empresas en Evolución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DIMAS®   </a:t>
            </a:r>
            <a:pPr algn="ctr" indent="0" marL="0">
              <a:buNone/>
            </a:pPr>
            <a:r>
              <a:rPr lang="en-US" sz="1350" spc="50" kern="0" dirty="0">
                <a:solidFill>
                  <a:srgbClr val="C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Implementación · Medición · Ajuste · Seguimiento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FORJEX — Construimos empresas más fuertes</dc:title>
  <dc:subject>PptxGenJS Presentation</dc:subject>
  <dc:creator>FORJEX</dc:creator>
  <cp:lastModifiedBy>FORJEX</cp:lastModifiedBy>
  <cp:revision>1</cp:revision>
  <dcterms:created xsi:type="dcterms:W3CDTF">2026-06-01T23:00:30Z</dcterms:created>
  <dcterms:modified xsi:type="dcterms:W3CDTF">2026-06-01T23:00:30Z</dcterms:modified>
</cp:coreProperties>
</file>